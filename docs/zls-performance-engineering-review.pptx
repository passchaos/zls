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
数据范围：仓库 dev 分支，2026-09-15 至 2026-09-17 的真实提交与基准。
各页指标来自不同专用工作负载，不做简单累加。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最大文件大小来自 ~/Work/zig/src/codegen/x86_64/CodeGen.zig。
Sema.zig 实际为 1,497,031 bytes。
94 commits 为 2026-09-15 起的仓库提交计数。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8,010→3,406 us 与 1,177,216→865,592 us 来自 16 copies Sema.zig、固定 CPU、12 次 counterbalanced runs。
位置换算 SIMD 与 trigram 优化属于多次独立提交；本页展示机制，不宣称百分比可相加。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Parser peak 11,383,854→2,302,870 bytes。
4,096 reverse-order edit server median 281.0→27.7 ms。
No-op 40 notifications final rebuild 409.6→0.77 ms。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对比基线 9e159ba1 与候选 7067e301，100-cycle/20-round。
RSS 为运行中的 ZLS 进程采样，不是编译器 MaxRSS。
1,000-cycle zero-query candidate 在 cycle 300 后稳定。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Small: baseline 3,697–3,751 ns；candidate 2,291–2,373 ns。
Large workspace hinted: baseline 700,541–746,384 ns；candidate 660,070–689,970 ns。
Large diagnostics 512 items：allocations 9→4。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拒绝项均来自实际实验，并已从工作树完整回滚。
这是本项目性能工程最重要的组织性产物：记录“为什么不做”。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强调不是一次性调参，而是可重复的工程闭环。
下一热点建议从请求侧 position→index 与 DocumentStore refresh 分段基准开始。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427"/>
          </a:solidFill>
          <a:ln w="12700">
            <a:solidFill>
              <a:srgbClr val="23242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21792"/>
            <a:ext cx="109728" cy="4343400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658368"/>
            <a:ext cx="2148840" cy="292608"/>
          </a:xfrm>
          <a:prstGeom prst="roundRect">
            <a:avLst/>
          </a:prstGeom>
          <a:solidFill>
            <a:srgbClr val="4A3727"/>
          </a:solidFill>
          <a:ln w="12700">
            <a:solidFill>
              <a:srgbClr val="4A372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6629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ENGINEERING DECISION DECK</a:t>
            </a:r>
            <a:endParaRPr lang="en-US" sz="93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1207008"/>
            <a:ext cx="6903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ZLS 性能与内存优化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029968"/>
            <a:ext cx="6446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9DA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从真实 Zig 工作负载出发，把热点变成可验证、可回滚的工程改进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154680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  </a:t>
            </a:r>
            <a:pPr algn="l" indent="0" marL="0">
              <a:buNone/>
            </a:pPr>
            <a:r>
              <a:rPr lang="en-US" sz="1200" dirty="0">
                <a:solidFill>
                  <a:srgbClr val="D9DA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workspace/symbol · didOpen/didChange · JSON-RPC · 文档生命周期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358444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  </a:t>
            </a:r>
            <a:pPr algn="l" indent="0" marL="0">
              <a:buNone/>
            </a:pPr>
            <a:r>
              <a:rPr lang="en-US" sz="1200" dirty="0">
                <a:solidFill>
                  <a:srgbClr val="D9DA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真实源码 → 微基准 → ABBA → 守护用例 → 全量验证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73659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EB1B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2026-09-17 · AArch64 Linux · Zig 0.16.0 · ReleaseFast + LLVM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75320" y="749808"/>
            <a:ext cx="3246120" cy="5166360"/>
          </a:xfrm>
          <a:prstGeom prst="roundRect">
            <a:avLst/>
          </a:prstGeom>
          <a:solidFill>
            <a:srgbClr val="303238"/>
          </a:solidFill>
          <a:ln w="12700">
            <a:solidFill>
              <a:srgbClr val="45474D"/>
            </a:solidFill>
            <a:prstDash val="solid"/>
          </a:ln>
        </p:spPr>
      </p:sp>
      <p:pic>
        <p:nvPicPr>
          <p:cNvPr id="14" name="Image 0" descr="/tmp/zls-deck-assets/zl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68512" y="1261872"/>
            <a:ext cx="2468880" cy="749808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686800" y="2414016"/>
            <a:ext cx="2414016" cy="0"/>
          </a:xfrm>
          <a:prstGeom prst="line">
            <a:avLst/>
          </a:prstGeom>
          <a:noFill/>
          <a:ln w="10160">
            <a:solidFill>
              <a:srgbClr val="5558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68512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性能工程不是“加一个缓存”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668512" y="326440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D9DA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而是持续回答三件事：</a:t>
            </a:r>
            <a:endParaRPr lang="en-US" sz="1120" dirty="0"/>
          </a:p>
        </p:txBody>
      </p:sp>
      <p:sp>
        <p:nvSpPr>
          <p:cNvPr id="18" name="Text 15"/>
          <p:cNvSpPr txBox="1"/>
          <p:nvPr/>
        </p:nvSpPr>
        <p:spPr>
          <a:xfrm>
            <a:off x="8668512" y="367588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哪里慢？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668512" y="4078224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为什么慢？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668512" y="448056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改完真的更好吗？</a:t>
            </a:r>
            <a:endParaRPr lang="en-US" sz="1400" dirty="0"/>
          </a:p>
        </p:txBody>
      </p:sp>
      <p:pic>
        <p:nvPicPr>
          <p:cNvPr id="21" name="Image 1" descr="/tmp/zls-deck-assets/zig.sv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5168" y="5138928"/>
            <a:ext cx="1170432" cy="50292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66928" y="6355080"/>
            <a:ext cx="11064240" cy="0"/>
          </a:xfrm>
          <a:prstGeom prst="line">
            <a:avLst/>
          </a:prstGeom>
          <a:noFill/>
          <a:ln w="6985">
            <a:solidFill>
              <a:srgbClr val="51545A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66928" y="64008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9BCC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来源：README.md；git log；src/tools/* benchmark notes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BASELINE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4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基线：大文件、高频交互与生命周期内存叠加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0432"/>
            <a:ext cx="11064240" cy="0"/>
          </a:xfrm>
          <a:prstGeom prst="line">
            <a:avLst/>
          </a:prstGeom>
          <a:noFill/>
          <a:ln w="10160">
            <a:solidFill>
              <a:srgbClr val="D4CE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37392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295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3401568" cy="1572768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17320"/>
            <a:ext cx="73152" cy="1572768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" y="1581912"/>
            <a:ext cx="2990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10.9 MiB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210312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最大真实 Zig 源码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2404872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x86_64/CodeGen.zig · 2.75M tokens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389120" y="1417320"/>
            <a:ext cx="3401568" cy="1572768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417320"/>
            <a:ext cx="73152" cy="1572768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581912"/>
            <a:ext cx="2990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1.50 MiB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10312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核心编辑样本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17720" y="2404872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Sema.zig · 265,640 tokens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211312" y="1417320"/>
            <a:ext cx="3401568" cy="1572768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11312" y="1417320"/>
            <a:ext cx="73152" cy="1572768"/>
          </a:xfrm>
          <a:prstGeom prst="rect">
            <a:avLst/>
          </a:prstGeom>
          <a:solidFill>
            <a:srgbClr val="398C79"/>
          </a:solidFill>
          <a:ln w="12700">
            <a:solidFill>
              <a:srgbClr val="398C79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39912" y="1581912"/>
            <a:ext cx="2990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98C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94 commits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439912" y="2103120"/>
            <a:ext cx="2990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两天优化闭环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39912" y="2404872"/>
            <a:ext cx="29900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perf / tools / docs · 每批独立验证</a:t>
            </a:r>
            <a:endParaRPr lang="en-US" sz="93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310128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问题不是单一热点，而是三类成本叠加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66928" y="3822192"/>
            <a:ext cx="3246120" cy="123444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3822192"/>
            <a:ext cx="64008" cy="1234440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393192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读路径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" y="4251960"/>
            <a:ext cx="29352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位置换算 + trigram 候选交集 + JSON 响应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096512" y="3822192"/>
            <a:ext cx="3246120" cy="123444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96512" y="3822192"/>
            <a:ext cx="64008" cy="1234440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79392" y="393192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写路径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279392" y="4251960"/>
            <a:ext cx="29352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消息解析 + edit 应用 + AST / 索引重建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7626096" y="3822192"/>
            <a:ext cx="3246120" cy="123444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26096" y="3822192"/>
            <a:ext cx="64008" cy="1234440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08976" y="393192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生命周期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808976" y="4251960"/>
            <a:ext cx="29352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打开 / 查询 / 关闭后 allocator 保留页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3813048" y="4443984"/>
            <a:ext cx="274320" cy="0"/>
          </a:xfrm>
          <a:prstGeom prst="line">
            <a:avLst/>
          </a:prstGeom>
          <a:noFill/>
          <a:ln w="27940">
            <a:solidFill>
              <a:srgbClr val="F68B1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42632" y="4443984"/>
            <a:ext cx="274320" cy="0"/>
          </a:xfrm>
          <a:prstGeom prst="line">
            <a:avLst/>
          </a:prstGeom>
          <a:noFill/>
          <a:ln w="27940">
            <a:solidFill>
              <a:srgbClr val="F68B1F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66928" y="5440680"/>
            <a:ext cx="11064240" cy="530352"/>
          </a:xfrm>
          <a:prstGeom prst="roundRect">
            <a:avLst/>
          </a:prstGeom>
          <a:solidFill>
            <a:srgbClr val="FBE6CD"/>
          </a:solidFill>
          <a:ln w="12700">
            <a:solidFill>
              <a:srgbClr val="FBE6CD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7240" y="5513832"/>
            <a:ext cx="10652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关键约束：</a:t>
            </a:r>
            <a:pPr algn="l" indent="0" marL="0">
              <a:buNone/>
            </a:pPr>
            <a:r>
              <a:rPr lang="en-US" sz="1200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不混淆构建 MaxRSS、运行时 RSS、allocator live bytes 与缓存磁盘占用。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6355080"/>
            <a:ext cx="11064240" cy="0"/>
          </a:xfrm>
          <a:prstGeom prst="line">
            <a:avLst/>
          </a:prstGeom>
          <a:noFill/>
          <a:ln w="6985">
            <a:solidFill>
              <a:srgbClr val="D4CEC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66928" y="64008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295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来源：src/tools/profile_workspace_memory.md；benchmark_message_parsing.md；git log --since 2026-09-15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READ PATH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4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读路径：减少重复扫描，缩小候选集合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0432"/>
            <a:ext cx="11064240" cy="0"/>
          </a:xfrm>
          <a:prstGeom prst="line">
            <a:avLst/>
          </a:prstGeom>
          <a:noFill/>
          <a:ln w="10160">
            <a:solidFill>
              <a:srgbClr val="D4CE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37392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295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417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" y="1783080"/>
            <a:ext cx="1719072" cy="132588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783080"/>
            <a:ext cx="64008" cy="1325880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89280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光标位置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212848"/>
            <a:ext cx="14081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LSP line / character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304288" y="2450592"/>
            <a:ext cx="384048" cy="0"/>
          </a:xfrm>
          <a:prstGeom prst="line">
            <a:avLst/>
          </a:prstGeom>
          <a:noFill/>
          <a:ln w="22860">
            <a:solidFill>
              <a:srgbClr val="F68B1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761488" y="1783080"/>
            <a:ext cx="1719072" cy="132588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1783080"/>
            <a:ext cx="64008" cy="1325880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4368" y="189280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增量换算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944368" y="2212848"/>
            <a:ext cx="14081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SIMD 长跨度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复用上次位置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498848" y="2450592"/>
            <a:ext cx="384048" cy="0"/>
          </a:xfrm>
          <a:prstGeom prst="line">
            <a:avLst/>
          </a:prstGeom>
          <a:noFill/>
          <a:ln w="22860">
            <a:solidFill>
              <a:srgbClr val="F68B1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56048" y="1783080"/>
            <a:ext cx="1719072" cy="132588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6048" y="1783080"/>
            <a:ext cx="64008" cy="1325880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38928" y="189280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稀有 posting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138928" y="2212848"/>
            <a:ext cx="14081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 query 先选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最稀有 trigram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693408" y="2450592"/>
            <a:ext cx="384048" cy="0"/>
          </a:xfrm>
          <a:prstGeom prst="line">
            <a:avLst/>
          </a:prstGeom>
          <a:noFill/>
          <a:ln w="22860">
            <a:solidFill>
              <a:srgbClr val="F68B1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50608" y="1783080"/>
            <a:ext cx="1719072" cy="132588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50608" y="1783080"/>
            <a:ext cx="64008" cy="1325880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33488" y="189280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交集推进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333488" y="2212848"/>
            <a:ext cx="14081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跳过公共前缀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去重周期 trigram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887968" y="2450592"/>
            <a:ext cx="384048" cy="0"/>
          </a:xfrm>
          <a:prstGeom prst="line">
            <a:avLst/>
          </a:prstGeom>
          <a:noFill/>
          <a:ln w="22860">
            <a:solidFill>
              <a:srgbClr val="F68B1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345168" y="1783080"/>
            <a:ext cx="1719072" cy="1325880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45168" y="1783080"/>
            <a:ext cx="64008" cy="1325880"/>
          </a:xfrm>
          <a:prstGeom prst="rect">
            <a:avLst/>
          </a:prstGeom>
          <a:solidFill>
            <a:srgbClr val="398C79"/>
          </a:solidFill>
          <a:ln w="12700">
            <a:solidFill>
              <a:srgbClr val="398C79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28048" y="189280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紧凑响应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9528048" y="2212848"/>
            <a:ext cx="14081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缓存 declaration line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避免 URI / 行扫描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实测变化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3822192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份 Sema · type 请求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2441448" y="3840480"/>
            <a:ext cx="3355848" cy="164592"/>
          </a:xfrm>
          <a:prstGeom prst="roundRect">
            <a:avLst/>
          </a:prstGeom>
          <a:solidFill>
            <a:srgbClr val="DDD8D1"/>
          </a:solidFill>
          <a:ln w="12700">
            <a:solidFill>
              <a:srgbClr val="DDD8D1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41448" y="3840480"/>
            <a:ext cx="3162393" cy="164592"/>
          </a:xfrm>
          <a:prstGeom prst="roundRect">
            <a:avLst/>
          </a:prstGeom>
          <a:solidFill>
            <a:srgbClr val="92959A"/>
          </a:solidFill>
          <a:ln w="12700">
            <a:solidFill>
              <a:srgbClr val="92959A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41448" y="4059936"/>
            <a:ext cx="3355848" cy="164592"/>
          </a:xfrm>
          <a:prstGeom prst="roundRect">
            <a:avLst/>
          </a:prstGeom>
          <a:solidFill>
            <a:srgbClr val="E8E3DC"/>
          </a:solidFill>
          <a:ln w="12700">
            <a:solidFill>
              <a:srgbClr val="E8E3DC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41448" y="4059936"/>
            <a:ext cx="1344708" cy="164592"/>
          </a:xfrm>
          <a:prstGeom prst="round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96312" y="381762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8010 µs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2496312" y="403707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3406 µs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4261104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缓存 declaration line：-57.5%</a:t>
            </a:r>
            <a:endParaRPr lang="en-US" sz="82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4782312"/>
            <a:ext cx="5230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 份 Sema · query phase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2441448" y="4800600"/>
            <a:ext cx="3355848" cy="164592"/>
          </a:xfrm>
          <a:prstGeom prst="roundRect">
            <a:avLst/>
          </a:prstGeom>
          <a:solidFill>
            <a:srgbClr val="DDD8D1"/>
          </a:solidFill>
          <a:ln w="12700">
            <a:solidFill>
              <a:srgbClr val="DDD8D1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41448" y="4800600"/>
            <a:ext cx="3159866" cy="164592"/>
          </a:xfrm>
          <a:prstGeom prst="roundRect">
            <a:avLst/>
          </a:prstGeom>
          <a:solidFill>
            <a:srgbClr val="92959A"/>
          </a:solidFill>
          <a:ln w="12700">
            <a:solidFill>
              <a:srgbClr val="92959A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41448" y="5020056"/>
            <a:ext cx="3355848" cy="164592"/>
          </a:xfrm>
          <a:prstGeom prst="roundRect">
            <a:avLst/>
          </a:prstGeom>
          <a:solidFill>
            <a:srgbClr val="E8E3DC"/>
          </a:solidFill>
          <a:ln w="12700">
            <a:solidFill>
              <a:srgbClr val="E8E3DC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41448" y="5020056"/>
            <a:ext cx="2324931" cy="164592"/>
          </a:xfrm>
          <a:prstGeom prst="round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2496312" y="477774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1177 ms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2496312" y="49971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866 ms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566928" y="5221224"/>
            <a:ext cx="5230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完整查询阶段：-26.5%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6236208" y="3703320"/>
            <a:ext cx="5394960" cy="1874520"/>
          </a:xfrm>
          <a:prstGeom prst="roundRect">
            <a:avLst/>
          </a:prstGeom>
          <a:solidFill>
            <a:srgbClr val="232427"/>
          </a:solidFill>
          <a:ln w="12700">
            <a:solidFill>
              <a:srgbClr val="404247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10528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核心代码方向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10528" y="42519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9EAE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advancePosition(text, last_position,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9EAE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last_index, index, encoding)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9EAE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rare postings → prefix skip → compact result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893808" y="5212080"/>
            <a:ext cx="1234440" cy="292608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DDEDE8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893808" y="521665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98C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无额外分配</a:t>
            </a:r>
            <a:endParaRPr lang="en-US" sz="930" dirty="0"/>
          </a:p>
        </p:txBody>
      </p:sp>
      <p:sp>
        <p:nvSpPr>
          <p:cNvPr id="54" name="Shape 52"/>
          <p:cNvSpPr/>
          <p:nvPr/>
        </p:nvSpPr>
        <p:spPr>
          <a:xfrm>
            <a:off x="566928" y="6355080"/>
            <a:ext cx="11064240" cy="0"/>
          </a:xfrm>
          <a:prstGeom prst="line">
            <a:avLst/>
          </a:prstGeom>
          <a:noFill/>
          <a:ln w="6985">
            <a:solidFill>
              <a:srgbClr val="D4CEC5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66928" y="64008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295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来源：src/offsets/advance_position.zig；src/TrigramStore.zig；profile_workspace_memory.md § Lazy declaration lines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WRITE PATH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4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写路径：把 didChange 从“重建一切”拆成四个可控阶段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0432"/>
            <a:ext cx="11064240" cy="0"/>
          </a:xfrm>
          <a:prstGeom prst="line">
            <a:avLst/>
          </a:prstGeom>
          <a:noFill/>
          <a:ln w="10160">
            <a:solidFill>
              <a:srgbClr val="D4CE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37392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295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2029968" cy="1261872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17320"/>
            <a:ext cx="64008" cy="1261872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15270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预热消息 arena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184708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64 KiB–16 MiB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按完整 frame 预热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2615184" y="2048256"/>
            <a:ext cx="301752" cy="0"/>
          </a:xfrm>
          <a:prstGeom prst="line">
            <a:avLst/>
          </a:prstGeom>
          <a:noFill/>
          <a:ln w="22860">
            <a:solidFill>
              <a:srgbClr val="F68B1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90088" y="1417320"/>
            <a:ext cx="2029968" cy="1261872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0088" y="1417320"/>
            <a:ext cx="64008" cy="1261872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72968" y="15270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流式解析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172968" y="184708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直接解析 typed event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不建 std.json.Value 树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5038344" y="2048256"/>
            <a:ext cx="301752" cy="0"/>
          </a:xfrm>
          <a:prstGeom prst="line">
            <a:avLst/>
          </a:prstGeom>
          <a:noFill/>
          <a:ln w="22860">
            <a:solidFill>
              <a:srgbClr val="F68B1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13248" y="1417320"/>
            <a:ext cx="2029968" cy="1261872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13248" y="1417320"/>
            <a:ext cx="64008" cy="1261872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96128" y="15270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游标应用 edit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596128" y="184708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双向位置游标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等长 edit 原地覆盖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461504" y="2048256"/>
            <a:ext cx="301752" cy="0"/>
          </a:xfrm>
          <a:prstGeom prst="line">
            <a:avLst/>
          </a:prstGeom>
          <a:noFill/>
          <a:ln w="22860">
            <a:solidFill>
              <a:srgbClr val="F68B1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836408" y="1417320"/>
            <a:ext cx="2029968" cy="1261872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36408" y="1417320"/>
            <a:ext cx="64008" cy="1261872"/>
          </a:xfrm>
          <a:prstGeom prst="rect">
            <a:avLst/>
          </a:prstGeom>
          <a:solidFill>
            <a:srgbClr val="398C79"/>
          </a:solidFill>
          <a:ln w="12700">
            <a:solidFill>
              <a:srgbClr val="398C7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19288" y="15270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跳过 no-op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8019288" y="1847088"/>
            <a:ext cx="1719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单局部 ≤64 KiB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相同内容直接返回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566928" y="3063240"/>
            <a:ext cx="3429000" cy="1444752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3063240"/>
            <a:ext cx="73152" cy="1444752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" y="32278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11.38 → 2.30 MiB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didChange parser peak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95528" y="4050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 Sema payload · 10 → 1 backing alloc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4379976" y="3063240"/>
            <a:ext cx="3429000" cy="1444752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79976" y="3063240"/>
            <a:ext cx="73152" cy="1444752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08576" y="32278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376 → 27.7 ms</a:t>
            </a:r>
            <a:endParaRPr lang="en-US" sz="2800" dirty="0"/>
          </a:p>
        </p:txBody>
      </p:sp>
      <p:sp>
        <p:nvSpPr>
          <p:cNvPr id="34" name="Text 32"/>
          <p:cNvSpPr txBox="1"/>
          <p:nvPr/>
        </p:nvSpPr>
        <p:spPr>
          <a:xfrm>
            <a:off x="4608576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4,096 edits · server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608576" y="4050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逆序编辑 · 完整 LSP ABBA · -90.1%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8193024" y="3063240"/>
            <a:ext cx="3429000" cy="1444752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93024" y="3063240"/>
            <a:ext cx="73152" cy="1444752"/>
          </a:xfrm>
          <a:prstGeom prst="rect">
            <a:avLst/>
          </a:prstGeom>
          <a:solidFill>
            <a:srgbClr val="398C79"/>
          </a:solidFill>
          <a:ln w="12700">
            <a:solidFill>
              <a:srgbClr val="398C79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421624" y="3227832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98C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409.6 → 0.77 ms</a:t>
            </a:r>
            <a:endParaRPr lang="en-US" sz="2800" dirty="0"/>
          </a:p>
        </p:txBody>
      </p:sp>
      <p:sp>
        <p:nvSpPr>
          <p:cNvPr id="39" name="Text 37"/>
          <p:cNvSpPr txBox="1"/>
          <p:nvPr/>
        </p:nvSpPr>
        <p:spPr>
          <a:xfrm>
            <a:off x="8421624" y="3749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 次 no-op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421624" y="4050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真实局部通知 · -99.8%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566928" y="4846320"/>
            <a:ext cx="11064240" cy="1051560"/>
          </a:xfrm>
          <a:prstGeom prst="roundRect">
            <a:avLst/>
          </a:prstGeom>
          <a:solidFill>
            <a:srgbClr val="232427"/>
          </a:solidFill>
          <a:ln w="12700">
            <a:solidFill>
              <a:srgbClr val="45474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4672" y="500176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68B1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// Server.zig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04672" y="52578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const new_text = try diff.applyContentChangesIfChanged(...) orelse return;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348472" y="5157216"/>
            <a:ext cx="1024128" cy="292608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DDEDE8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348472" y="516178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98C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零分配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9555480" y="5157216"/>
            <a:ext cx="1353312" cy="292608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DDEDE8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555480" y="516178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98C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不重建 AST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566928" y="6355080"/>
            <a:ext cx="11064240" cy="0"/>
          </a:xfrm>
          <a:prstGeom prst="line">
            <a:avLst/>
          </a:prstGeom>
          <a:noFill/>
          <a:ln w="6985">
            <a:solidFill>
              <a:srgbClr val="D4CEC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66928" y="64008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295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来源：src/message_arena.zig；src/document_sync.zig；src/diff.zig；src/Server.zig；benchmark_message_parsing.md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MEMORY LIFECYCLE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4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内存生命周期：区分“活对象”与 allocator 保留页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0432"/>
            <a:ext cx="11064240" cy="0"/>
          </a:xfrm>
          <a:prstGeom prst="line">
            <a:avLst/>
          </a:prstGeom>
          <a:noFill/>
          <a:ln w="10160">
            <a:solidFill>
              <a:srgbClr val="D4CE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37392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295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399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 次打开 / 查询 / 关闭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8368" y="1874520"/>
            <a:ext cx="512064" cy="512064"/>
          </a:xfrm>
          <a:prstGeom prst="ellipse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46888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5448" y="278892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读取源码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1207008" y="2130552"/>
            <a:ext cx="1828800" cy="0"/>
          </a:xfrm>
          <a:prstGeom prst="line">
            <a:avLst/>
          </a:prstGeom>
          <a:noFill/>
          <a:ln w="20320">
            <a:solidFill>
              <a:srgbClr val="B9B4A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90672" y="1874520"/>
            <a:ext cx="512064" cy="512064"/>
          </a:xfrm>
          <a:prstGeom prst="ellipse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90672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79192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parse + index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587752" y="278892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 / scope / trigram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3639312" y="2130552"/>
            <a:ext cx="1828800" cy="0"/>
          </a:xfrm>
          <a:prstGeom prst="line">
            <a:avLst/>
          </a:prstGeom>
          <a:noFill/>
          <a:ln w="20320">
            <a:solidFill>
              <a:srgbClr val="B9B4A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22976" y="1874520"/>
            <a:ext cx="512064" cy="512064"/>
          </a:xfrm>
          <a:prstGeom prst="ellipse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22976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111496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query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020056" y="278892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序列化结果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071616" y="2130552"/>
            <a:ext cx="1828800" cy="0"/>
          </a:xfrm>
          <a:prstGeom prst="line">
            <a:avLst/>
          </a:prstGeom>
          <a:noFill/>
          <a:ln w="20320">
            <a:solidFill>
              <a:srgbClr val="B9B4A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955280" y="1874520"/>
            <a:ext cx="512064" cy="512064"/>
          </a:xfrm>
          <a:prstGeom prst="ellipse">
            <a:avLst/>
          </a:prstGeom>
          <a:solidFill>
            <a:srgbClr val="398C79"/>
          </a:solidFill>
          <a:ln w="12700">
            <a:solidFill>
              <a:srgbClr val="398C7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55280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543800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78892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批量释放 arena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8503920" y="2130552"/>
            <a:ext cx="1828800" cy="0"/>
          </a:xfrm>
          <a:prstGeom prst="line">
            <a:avLst/>
          </a:prstGeom>
          <a:noFill/>
          <a:ln w="20320">
            <a:solidFill>
              <a:srgbClr val="B9B4AD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387584" y="1874520"/>
            <a:ext cx="512064" cy="512064"/>
          </a:xfrm>
          <a:prstGeom prst="ellipse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87584" y="1865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976104" y="24871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repeat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884664" y="278892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 RSS 稳态</a:t>
            </a:r>
            <a:endParaRPr lang="en-US" sz="87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365760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Observed peak RSS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2441448" y="3675888"/>
            <a:ext cx="3291840" cy="164592"/>
          </a:xfrm>
          <a:prstGeom prst="roundRect">
            <a:avLst/>
          </a:prstGeom>
          <a:solidFill>
            <a:srgbClr val="DDD8D1"/>
          </a:solidFill>
          <a:ln w="12700">
            <a:solidFill>
              <a:srgbClr val="DDD8D1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41448" y="3675888"/>
            <a:ext cx="3160166" cy="164592"/>
          </a:xfrm>
          <a:prstGeom prst="roundRect">
            <a:avLst/>
          </a:prstGeom>
          <a:solidFill>
            <a:srgbClr val="92959A"/>
          </a:solidFill>
          <a:ln w="12700">
            <a:solidFill>
              <a:srgbClr val="92959A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41448" y="3895344"/>
            <a:ext cx="3291840" cy="164592"/>
          </a:xfrm>
          <a:prstGeom prst="roundRect">
            <a:avLst/>
          </a:prstGeom>
          <a:solidFill>
            <a:srgbClr val="E8E3DC"/>
          </a:solidFill>
          <a:ln w="12700">
            <a:solidFill>
              <a:srgbClr val="E8E3DC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41448" y="3895344"/>
            <a:ext cx="2377586" cy="164592"/>
          </a:xfrm>
          <a:prstGeom prst="round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496312" y="36530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28800 KiB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2496312" y="387248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21668 KiB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4096512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-24.8%</a:t>
            </a:r>
            <a:endParaRPr lang="en-US" sz="82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466344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Final closed RSS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2441448" y="4681728"/>
            <a:ext cx="3291840" cy="164592"/>
          </a:xfrm>
          <a:prstGeom prst="roundRect">
            <a:avLst/>
          </a:prstGeom>
          <a:solidFill>
            <a:srgbClr val="DDD8D1"/>
          </a:solidFill>
          <a:ln w="12700">
            <a:solidFill>
              <a:srgbClr val="DDD8D1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41448" y="4681728"/>
            <a:ext cx="2893827" cy="164592"/>
          </a:xfrm>
          <a:prstGeom prst="roundRect">
            <a:avLst/>
          </a:prstGeom>
          <a:solidFill>
            <a:srgbClr val="92959A"/>
          </a:solidFill>
          <a:ln w="12700">
            <a:solidFill>
              <a:srgbClr val="92959A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41448" y="4901184"/>
            <a:ext cx="3291840" cy="164592"/>
          </a:xfrm>
          <a:prstGeom prst="roundRect">
            <a:avLst/>
          </a:prstGeom>
          <a:solidFill>
            <a:srgbClr val="E8E3DC"/>
          </a:solidFill>
          <a:ln w="12700">
            <a:solidFill>
              <a:srgbClr val="E8E3DC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41448" y="4901184"/>
            <a:ext cx="1443023" cy="164592"/>
          </a:xfrm>
          <a:prstGeom prst="round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496312" y="465886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19340 KiB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2496312" y="487832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9644 KiB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566928" y="5102352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-50.1%</a:t>
            </a:r>
            <a:endParaRPr lang="en-US" sz="820" dirty="0"/>
          </a:p>
        </p:txBody>
      </p:sp>
      <p:sp>
        <p:nvSpPr>
          <p:cNvPr id="48" name="Text 46"/>
          <p:cNvSpPr txBox="1"/>
          <p:nvPr/>
        </p:nvSpPr>
        <p:spPr>
          <a:xfrm>
            <a:off x="6199632" y="365760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Closed RSS growth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8074152" y="3675888"/>
            <a:ext cx="3291840" cy="164592"/>
          </a:xfrm>
          <a:prstGeom prst="roundRect">
            <a:avLst/>
          </a:prstGeom>
          <a:solidFill>
            <a:srgbClr val="DDD8D1"/>
          </a:solidFill>
          <a:ln w="12700">
            <a:solidFill>
              <a:srgbClr val="DDD8D1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74152" y="3675888"/>
            <a:ext cx="3083188" cy="164592"/>
          </a:xfrm>
          <a:prstGeom prst="roundRect">
            <a:avLst/>
          </a:prstGeom>
          <a:solidFill>
            <a:srgbClr val="92959A"/>
          </a:solidFill>
          <a:ln w="12700">
            <a:solidFill>
              <a:srgbClr val="92959A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74152" y="3895344"/>
            <a:ext cx="3291840" cy="164592"/>
          </a:xfrm>
          <a:prstGeom prst="roundRect">
            <a:avLst/>
          </a:prstGeom>
          <a:solidFill>
            <a:srgbClr val="E8E3DC"/>
          </a:solidFill>
          <a:ln w="12700">
            <a:solidFill>
              <a:srgbClr val="E8E3DC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074152" y="3895344"/>
            <a:ext cx="652291" cy="164592"/>
          </a:xfrm>
          <a:prstGeom prst="round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129016" y="365302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12176 KiB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8129016" y="3872484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324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2576 KiB</a:t>
            </a:r>
            <a:endParaRPr lang="en-US" sz="850" dirty="0"/>
          </a:p>
        </p:txBody>
      </p:sp>
      <p:sp>
        <p:nvSpPr>
          <p:cNvPr id="55" name="Text 53"/>
          <p:cNvSpPr txBox="1"/>
          <p:nvPr/>
        </p:nvSpPr>
        <p:spPr>
          <a:xfrm>
            <a:off x="6199632" y="4096512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-78.8%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6199632" y="4663440"/>
            <a:ext cx="5166360" cy="713232"/>
          </a:xfrm>
          <a:prstGeom prst="roundRect">
            <a:avLst/>
          </a:prstGeom>
          <a:solidFill>
            <a:srgbClr val="FBE6CD"/>
          </a:solidFill>
          <a:ln w="12700">
            <a:solidFill>
              <a:srgbClr val="FBE6CD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419088" y="4745736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代价可见：open +1.2% · query +2.9%</a:t>
            </a:r>
            <a:endParaRPr lang="en-US" sz="1120" dirty="0"/>
          </a:p>
          <a:p>
            <a:pPr algn="l" indent="0" marL="0">
              <a:buNone/>
            </a:pPr>
            <a:r>
              <a:rPr lang="en-US" sz="112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收益决定性：1,000 cycles 后增长停止</a:t>
            </a:r>
            <a:endParaRPr lang="en-US" sz="1120" dirty="0"/>
          </a:p>
        </p:txBody>
      </p:sp>
      <p:sp>
        <p:nvSpPr>
          <p:cNvPr id="58" name="Shape 56"/>
          <p:cNvSpPr/>
          <p:nvPr/>
        </p:nvSpPr>
        <p:spPr>
          <a:xfrm>
            <a:off x="566928" y="6355080"/>
            <a:ext cx="11064240" cy="0"/>
          </a:xfrm>
          <a:prstGeom prst="line">
            <a:avLst/>
          </a:prstGeom>
          <a:noFill/>
          <a:ln w="6985">
            <a:solidFill>
              <a:srgbClr val="D4CEC5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66928" y="64008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295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来源：src/document_store/AnalysisArena.zig；src/DocumentStore.zig；profile_workspace_memory.md § Reclaimable arenas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RESPONSE PATH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4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响应侧：4 KiB 栈前缀 + 有证据的容量提示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0432"/>
            <a:ext cx="11064240" cy="0"/>
          </a:xfrm>
          <a:prstGeom prst="line">
            <a:avLst/>
          </a:prstGeom>
          <a:noFill/>
          <a:ln w="10160">
            <a:solidFill>
              <a:srgbClr val="D4CE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37392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295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5047488" cy="1947672"/>
          </a:xfrm>
          <a:prstGeom prst="roundRect">
            <a:avLst/>
          </a:prstGeom>
          <a:solidFill>
            <a:srgbClr val="232427"/>
          </a:solidFill>
          <a:ln w="12700">
            <a:solidFill>
              <a:srgbClr val="4547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002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JSON-RPC 输出缓冲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" y="2103120"/>
            <a:ext cx="1325880" cy="512064"/>
          </a:xfrm>
          <a:prstGeom prst="round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21214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4 KiB stack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67712" y="2359152"/>
            <a:ext cx="548640" cy="0"/>
          </a:xfrm>
          <a:prstGeom prst="line">
            <a:avLst/>
          </a:prstGeom>
          <a:noFill/>
          <a:ln w="25400">
            <a:solidFill>
              <a:srgbClr val="F68B1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89504" y="2103120"/>
            <a:ext cx="1993392" cy="512064"/>
          </a:xfrm>
          <a:prstGeom prst="roundRect">
            <a:avLst/>
          </a:prstGeom>
          <a:solidFill>
            <a:srgbClr val="55585E"/>
          </a:solidFill>
          <a:ln w="12700">
            <a:solidFill>
              <a:srgbClr val="55585E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89504" y="2121408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fallback allocator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7706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8CB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小响应：一次最终 copy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8CBD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大响应：直接转移 owned slice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98464" y="1371600"/>
            <a:ext cx="2633472" cy="1947672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98464" y="1371600"/>
            <a:ext cx="73152" cy="1947672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27064" y="1536192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→ 1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227064" y="205740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small allocations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27064" y="2359152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 symbols · 1,555 B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997696" y="1371600"/>
            <a:ext cx="2633472" cy="1947672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97696" y="1371600"/>
            <a:ext cx="73152" cy="1947672"/>
          </a:xfrm>
          <a:prstGeom prst="rect">
            <a:avLst/>
          </a:prstGeom>
          <a:solidFill>
            <a:srgbClr val="398C79"/>
          </a:solidFill>
          <a:ln w="12700">
            <a:solidFill>
              <a:srgbClr val="398C79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26296" y="1536192"/>
            <a:ext cx="2221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98C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 → 4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205740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diagnostic allocs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226296" y="2359152"/>
            <a:ext cx="22219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512 diagnostics · stack prefix</a:t>
            </a:r>
            <a:endParaRPr lang="en-US" sz="93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3712464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Small workspace response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441448" y="3730752"/>
            <a:ext cx="3474720" cy="164592"/>
          </a:xfrm>
          <a:prstGeom prst="roundRect">
            <a:avLst/>
          </a:prstGeom>
          <a:solidFill>
            <a:srgbClr val="DDD8D1"/>
          </a:solidFill>
          <a:ln w="12700">
            <a:solidFill>
              <a:srgbClr val="DDD8D1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41448" y="3730752"/>
            <a:ext cx="3077609" cy="164592"/>
          </a:xfrm>
          <a:prstGeom prst="roundRect">
            <a:avLst/>
          </a:prstGeom>
          <a:solidFill>
            <a:srgbClr val="92959A"/>
          </a:solidFill>
          <a:ln w="12700">
            <a:solidFill>
              <a:srgbClr val="92959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41448" y="3950208"/>
            <a:ext cx="3474720" cy="164592"/>
          </a:xfrm>
          <a:prstGeom prst="roundRect">
            <a:avLst/>
          </a:prstGeom>
          <a:solidFill>
            <a:srgbClr val="E8E3DC"/>
          </a:solidFill>
          <a:ln w="12700">
            <a:solidFill>
              <a:srgbClr val="E8E3DC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41448" y="3950208"/>
            <a:ext cx="1927642" cy="164592"/>
          </a:xfrm>
          <a:prstGeom prst="round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496312" y="37078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3.72 µs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2496312" y="3927348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2.33 µs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4151376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约 -37%</a:t>
            </a:r>
            <a:endParaRPr lang="en-US" sz="82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4773168"/>
            <a:ext cx="5349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Large workspace response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2441448" y="4791456"/>
            <a:ext cx="3474720" cy="164592"/>
          </a:xfrm>
          <a:prstGeom prst="roundRect">
            <a:avLst/>
          </a:prstGeom>
          <a:solidFill>
            <a:srgbClr val="DDD8D1"/>
          </a:solidFill>
          <a:ln w="12700">
            <a:solidFill>
              <a:srgbClr val="DDD8D1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41448" y="4791456"/>
            <a:ext cx="3220798" cy="164592"/>
          </a:xfrm>
          <a:prstGeom prst="roundRect">
            <a:avLst/>
          </a:prstGeom>
          <a:solidFill>
            <a:srgbClr val="92959A"/>
          </a:solidFill>
          <a:ln w="12700">
            <a:solidFill>
              <a:srgbClr val="92959A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41448" y="5010912"/>
            <a:ext cx="3474720" cy="164592"/>
          </a:xfrm>
          <a:prstGeom prst="roundRect">
            <a:avLst/>
          </a:prstGeom>
          <a:solidFill>
            <a:srgbClr val="E8E3DC"/>
          </a:solidFill>
          <a:ln w="12700">
            <a:solidFill>
              <a:srgbClr val="E8E3DC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41448" y="5010912"/>
            <a:ext cx="3006969" cy="164592"/>
          </a:xfrm>
          <a:prstGeom prst="round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496312" y="4768596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723 µs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2496312" y="498805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675 µs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566928" y="5212080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峰值 438.9→407.6 KiB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281928" y="3675888"/>
            <a:ext cx="5349240" cy="173736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37960" y="391363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为什么诊断只保留栈前缀？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537960" y="4370832"/>
            <a:ext cx="46634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message / code / tags / relatedInfo / data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使“按数量估容量”不可靠；低估会抬高峰值。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因此保留稳定的 stack prefix，拒绝 count-only hint。</a:t>
            </a:r>
            <a:endParaRPr lang="en-US" sz="1040" dirty="0"/>
          </a:p>
        </p:txBody>
      </p:sp>
      <p:sp>
        <p:nvSpPr>
          <p:cNvPr id="44" name="Shape 42"/>
          <p:cNvSpPr/>
          <p:nvPr/>
        </p:nvSpPr>
        <p:spPr>
          <a:xfrm>
            <a:off x="566928" y="6355080"/>
            <a:ext cx="11064240" cy="0"/>
          </a:xfrm>
          <a:prstGeom prst="line">
            <a:avLst/>
          </a:prstGeom>
          <a:noFill/>
          <a:ln w="6985">
            <a:solidFill>
              <a:srgbClr val="D4CEC5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66928" y="64008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295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来源：src/response_buffer.zig；src/tools/benchmark_responses.md；Server.zig transport write path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DECISION GATES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4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保留与拒绝：优化必须穿过完整回归门槛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0432"/>
            <a:ext cx="11064240" cy="0"/>
          </a:xfrm>
          <a:prstGeom prst="line">
            <a:avLst/>
          </a:prstGeom>
          <a:noFill/>
          <a:ln w="10160">
            <a:solidFill>
              <a:srgbClr val="D4CE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37392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295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371600"/>
            <a:ext cx="5340096" cy="4553712"/>
          </a:xfrm>
          <a:prstGeom prst="roundRect">
            <a:avLst/>
          </a:prstGeom>
          <a:solidFill>
            <a:srgbClr val="DDEDE8"/>
          </a:solidFill>
          <a:ln w="12700">
            <a:solidFill>
              <a:srgbClr val="B8D8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91072" y="1371600"/>
            <a:ext cx="5340096" cy="4553712"/>
          </a:xfrm>
          <a:prstGeom prst="roundRect">
            <a:avLst/>
          </a:prstGeom>
          <a:solidFill>
            <a:srgbClr val="F3DEDA"/>
          </a:solidFill>
          <a:ln w="12700">
            <a:solidFill>
              <a:srgbClr val="E4B9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627632"/>
            <a:ext cx="932688" cy="292608"/>
          </a:xfrm>
          <a:prstGeom prst="roundRect">
            <a:avLst/>
          </a:prstGeom>
          <a:solidFill>
            <a:srgbClr val="CFE6DF"/>
          </a:solidFill>
          <a:ln w="12700">
            <a:solidFill>
              <a:srgbClr val="CFE6D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163220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398C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KEEP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565392" y="1627632"/>
            <a:ext cx="1481328" cy="292608"/>
          </a:xfrm>
          <a:prstGeom prst="roundRect">
            <a:avLst/>
          </a:prstGeom>
          <a:solidFill>
            <a:srgbClr val="EBCDC8"/>
          </a:solidFill>
          <a:ln w="12700">
            <a:solidFill>
              <a:srgbClr val="EBCDC8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65392" y="163220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B34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REJECT / REVERT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868680" y="2194560"/>
            <a:ext cx="182880" cy="182880"/>
          </a:xfrm>
          <a:prstGeom prst="ellipse">
            <a:avLst/>
          </a:prstGeom>
          <a:solidFill>
            <a:srgbClr val="398C79"/>
          </a:solidFill>
          <a:ln w="12700">
            <a:solidFill>
              <a:srgbClr val="398C7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2167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21031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流式 didChange parser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776472" y="2103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98C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11.38 → 2.30 MiB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68680" y="2743200"/>
            <a:ext cx="182880" cy="182880"/>
          </a:xfrm>
          <a:prstGeom prst="ellipse">
            <a:avLst/>
          </a:prstGeom>
          <a:solidFill>
            <a:srgbClr val="398C79"/>
          </a:solidFill>
          <a:ln w="12700">
            <a:solidFill>
              <a:srgbClr val="398C79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" y="2715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2651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 frame arena preheat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776472" y="26517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98C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9/10 alloc → 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68680" y="3291840"/>
            <a:ext cx="182880" cy="182880"/>
          </a:xfrm>
          <a:prstGeom prst="ellipse">
            <a:avLst/>
          </a:prstGeom>
          <a:solidFill>
            <a:srgbClr val="398C79"/>
          </a:solidFill>
          <a:ln w="12700">
            <a:solidFill>
              <a:srgbClr val="398C79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" y="3264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3200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双向位置游标 + 原地覆盖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776472" y="32004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98C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376 → 27.7 ms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68680" y="3840480"/>
            <a:ext cx="182880" cy="182880"/>
          </a:xfrm>
          <a:prstGeom prst="ellipse">
            <a:avLst/>
          </a:prstGeom>
          <a:solidFill>
            <a:srgbClr val="398C79"/>
          </a:solidFill>
          <a:ln w="12700">
            <a:solidFill>
              <a:srgbClr val="398C79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" y="38130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70432" y="3749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no-op 局部变更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776472" y="3749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98C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409.6 → 0.77 ms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68680" y="4389120"/>
            <a:ext cx="182880" cy="182880"/>
          </a:xfrm>
          <a:prstGeom prst="ellipse">
            <a:avLst/>
          </a:prstGeom>
          <a:solidFill>
            <a:srgbClr val="398C79"/>
          </a:solidFill>
          <a:ln w="12700">
            <a:solidFill>
              <a:srgbClr val="398C79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9536" y="4361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70432" y="4297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可回收 document arena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776472" y="4297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98C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RSS growth -78.8%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68680" y="4937760"/>
            <a:ext cx="182880" cy="182880"/>
          </a:xfrm>
          <a:prstGeom prst="ellipse">
            <a:avLst/>
          </a:prstGeom>
          <a:solidFill>
            <a:srgbClr val="398C79"/>
          </a:solidFill>
          <a:ln w="12700">
            <a:solidFill>
              <a:srgbClr val="398C79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9536" y="4910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70432" y="4846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KiB 响应栈前缀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776472" y="4846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398C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small alloc 4 → 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92824" y="2194560"/>
            <a:ext cx="182880" cy="182880"/>
          </a:xfrm>
          <a:prstGeom prst="ellipse">
            <a:avLst/>
          </a:prstGeom>
          <a:solidFill>
            <a:srgbClr val="B34D42"/>
          </a:solidFill>
          <a:ln w="12700">
            <a:solidFill>
              <a:srgbClr val="B34D42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83680" y="2167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6894576" y="2103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全局 alloc_if_needed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482328" y="21031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34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didOpen 4.45 → 6.65 MiB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592824" y="2743200"/>
            <a:ext cx="182880" cy="182880"/>
          </a:xfrm>
          <a:prstGeom prst="ellipse">
            <a:avLst/>
          </a:prstGeom>
          <a:solidFill>
            <a:srgbClr val="B34D42"/>
          </a:solidFill>
          <a:ln w="12700">
            <a:solidFill>
              <a:srgbClr val="B34D42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83680" y="2715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894576" y="26517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4/5 frame 预热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9482328" y="26517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34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ASCII guard 峰值 8.98 MiB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592824" y="3291840"/>
            <a:ext cx="182880" cy="182880"/>
          </a:xfrm>
          <a:prstGeom prst="ellipse">
            <a:avLst/>
          </a:prstGeom>
          <a:solidFill>
            <a:srgbClr val="B34D42"/>
          </a:solidFill>
          <a:ln w="12700">
            <a:solidFill>
              <a:srgbClr val="B34D42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583680" y="3264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6894576" y="32004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rangeLength 精确容量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482328" y="32004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34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server ABBA +4.0%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592824" y="3840480"/>
            <a:ext cx="182880" cy="182880"/>
          </a:xfrm>
          <a:prstGeom prst="ellipse">
            <a:avLst/>
          </a:prstGeom>
          <a:solidFill>
            <a:srgbClr val="B34D42"/>
          </a:solidFill>
          <a:ln w="12700">
            <a:solidFill>
              <a:srgbClr val="B34D42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583680" y="38130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894576" y="37490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AST arena 预热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9482328" y="37490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34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server ABBA +7.9%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92824" y="4389120"/>
            <a:ext cx="182880" cy="182880"/>
          </a:xfrm>
          <a:prstGeom prst="ellipse">
            <a:avLst/>
          </a:prstGeom>
          <a:solidFill>
            <a:srgbClr val="B34D42"/>
          </a:solidFill>
          <a:ln w="12700">
            <a:solidFill>
              <a:srgbClr val="B34D42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583680" y="4361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6894576" y="429768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diagnostic count hint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9482328" y="4297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34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低估抬高 peak-live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592824" y="4937760"/>
            <a:ext cx="182880" cy="182880"/>
          </a:xfrm>
          <a:prstGeom prst="ellipse">
            <a:avLst/>
          </a:prstGeom>
          <a:solidFill>
            <a:srgbClr val="B34D42"/>
          </a:solidFill>
          <a:ln w="12700">
            <a:solidFill>
              <a:srgbClr val="B34D42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583680" y="49103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6894576" y="48463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缓存 declaration 全位置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9482328" y="4846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34D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无稳定收益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66928" y="6053328"/>
            <a:ext cx="11064240" cy="219456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68096" y="6044184"/>
            <a:ext cx="10652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门槛 = microbenchmark + guard case + fixed-CPU ABBA + checksum / protocol + full test / build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66928" y="6355080"/>
            <a:ext cx="11064240" cy="0"/>
          </a:xfrm>
          <a:prstGeom prst="line">
            <a:avLst/>
          </a:prstGeom>
          <a:noFill/>
          <a:ln w="6985">
            <a:solidFill>
              <a:srgbClr val="D4CEC5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566928" y="64008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295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来源：benchmark_message_parsing.md；benchmark_responses.md；profile_workspace_memory.md；git history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2743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PLAYBOOK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24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可复现方法：下一轮优化沿同一条证据链推进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170432"/>
            <a:ext cx="11064240" cy="0"/>
          </a:xfrm>
          <a:prstGeom prst="line">
            <a:avLst/>
          </a:prstGeom>
          <a:noFill/>
          <a:ln w="10160">
            <a:solidFill>
              <a:srgbClr val="D4CEC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37392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295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69848" y="1490472"/>
            <a:ext cx="502920" cy="502920"/>
          </a:xfrm>
          <a:prstGeom prst="ellipse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1488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选真实热点</a:t>
            </a:r>
            <a:endParaRPr lang="en-US" sz="1130" dirty="0"/>
          </a:p>
        </p:txBody>
      </p:sp>
      <p:sp>
        <p:nvSpPr>
          <p:cNvPr id="10" name="Text 8"/>
          <p:cNvSpPr txBox="1"/>
          <p:nvPr/>
        </p:nvSpPr>
        <p:spPr>
          <a:xfrm>
            <a:off x="521208" y="2487168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Sema / CodeGen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645920" y="1737360"/>
            <a:ext cx="685800" cy="0"/>
          </a:xfrm>
          <a:prstGeom prst="line">
            <a:avLst/>
          </a:prstGeom>
          <a:noFill/>
          <a:ln w="19050">
            <a:solidFill>
              <a:srgbClr val="B9B4A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16936" y="1490472"/>
            <a:ext cx="502920" cy="502920"/>
          </a:xfrm>
          <a:prstGeom prst="ellipse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16936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414016" y="21488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冻结基线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2368296" y="2487168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commit + binary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93008" y="1737360"/>
            <a:ext cx="685800" cy="0"/>
          </a:xfrm>
          <a:prstGeom prst="line">
            <a:avLst/>
          </a:prstGeom>
          <a:noFill/>
          <a:ln w="19050">
            <a:solidFill>
              <a:srgbClr val="B9B4A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64024" y="1490472"/>
            <a:ext cx="502920" cy="502920"/>
          </a:xfrm>
          <a:prstGeom prst="ellipse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64024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261104" y="21488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建立微基准</a:t>
            </a:r>
            <a:endParaRPr lang="en-US" sz="1130" dirty="0"/>
          </a:p>
        </p:txBody>
      </p:sp>
      <p:sp>
        <p:nvSpPr>
          <p:cNvPr id="20" name="Text 18"/>
          <p:cNvSpPr txBox="1"/>
          <p:nvPr/>
        </p:nvSpPr>
        <p:spPr>
          <a:xfrm>
            <a:off x="4215384" y="2487168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time + alloc + peak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40096" y="1737360"/>
            <a:ext cx="685800" cy="0"/>
          </a:xfrm>
          <a:prstGeom prst="line">
            <a:avLst/>
          </a:prstGeom>
          <a:noFill/>
          <a:ln w="19050">
            <a:solidFill>
              <a:srgbClr val="B9B4A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11112" y="1490472"/>
            <a:ext cx="502920" cy="502920"/>
          </a:xfrm>
          <a:prstGeom prst="ellipse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11112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108192" y="21488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 guard</a:t>
            </a:r>
            <a:endParaRPr lang="en-US" sz="1130" dirty="0"/>
          </a:p>
        </p:txBody>
      </p:sp>
      <p:sp>
        <p:nvSpPr>
          <p:cNvPr id="25" name="Text 23"/>
          <p:cNvSpPr txBox="1"/>
          <p:nvPr/>
        </p:nvSpPr>
        <p:spPr>
          <a:xfrm>
            <a:off x="6062472" y="2487168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Unicode / OOM / 逆序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187184" y="1737360"/>
            <a:ext cx="685800" cy="0"/>
          </a:xfrm>
          <a:prstGeom prst="line">
            <a:avLst/>
          </a:prstGeom>
          <a:noFill/>
          <a:ln w="19050">
            <a:solidFill>
              <a:srgbClr val="B9B4AD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458200" y="1490472"/>
            <a:ext cx="502920" cy="502920"/>
          </a:xfrm>
          <a:prstGeom prst="ellipse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5820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955280" y="21488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真实 ABBA</a:t>
            </a:r>
            <a:endParaRPr lang="en-US" sz="113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2487168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 CPU · 完整 LSP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034272" y="1737360"/>
            <a:ext cx="685800" cy="0"/>
          </a:xfrm>
          <a:prstGeom prst="line">
            <a:avLst/>
          </a:prstGeom>
          <a:noFill/>
          <a:ln w="19050">
            <a:solidFill>
              <a:srgbClr val="B9B4A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305288" y="1490472"/>
            <a:ext cx="502920" cy="502920"/>
          </a:xfrm>
          <a:prstGeom prst="ellipse">
            <a:avLst/>
          </a:prstGeom>
          <a:solidFill>
            <a:srgbClr val="398C79"/>
          </a:solidFill>
          <a:ln w="12700">
            <a:solidFill>
              <a:srgbClr val="398C79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305288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802368" y="214884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集成闭环</a:t>
            </a:r>
            <a:endParaRPr lang="en-US" sz="1130" dirty="0"/>
          </a:p>
        </p:txBody>
      </p:sp>
      <p:sp>
        <p:nvSpPr>
          <p:cNvPr id="35" name="Text 33"/>
          <p:cNvSpPr txBox="1"/>
          <p:nvPr/>
        </p:nvSpPr>
        <p:spPr>
          <a:xfrm>
            <a:off x="9756648" y="2487168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5686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test → pull → push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6928" y="3319272"/>
            <a:ext cx="6812280" cy="2423160"/>
          </a:xfrm>
          <a:prstGeom prst="roundRect">
            <a:avLst/>
          </a:prstGeom>
          <a:solidFill>
            <a:srgbClr val="232427"/>
          </a:solidFill>
          <a:ln w="12700">
            <a:solidFill>
              <a:srgbClr val="45474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2104" y="35570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复现命令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32104" y="3959352"/>
            <a:ext cx="6199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E9EAE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zig build test -j1 --summary all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9EAE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zig build -j1 -Doptimize=ReleaseFast -Duse-llvm=true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9EAE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zig build bench-message-parsing -j1 -Doptimize=ReleaseFast \</a:t>
            </a:r>
            <a:endParaRPr lang="en-US" sz="1020" dirty="0"/>
          </a:p>
          <a:p>
            <a:pPr algn="l" indent="0" marL="0">
              <a:buNone/>
            </a:pPr>
            <a:r>
              <a:rPr lang="en-US" sz="1020" dirty="0">
                <a:solidFill>
                  <a:srgbClr val="E9EAEC"/>
                </a:solidFill>
                <a:latin typeface="Noto Sans Mono CJK SC" pitchFamily="34" charset="0"/>
                <a:ea typeface="Noto Sans Mono CJK SC" pitchFamily="34" charset="-122"/>
                <a:cs typeface="Noto Sans Mono CJK SC" pitchFamily="34" charset="-120"/>
              </a:rPr>
              <a:t>  -Duse-llvm=true -- ~/Work/zig/src/Sema.zig 16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7754112" y="3319272"/>
            <a:ext cx="3877056" cy="242316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E6E1D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28432" y="3566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68B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下一批候选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065008" y="4023360"/>
            <a:ext cx="118872" cy="118872"/>
          </a:xfrm>
          <a:prstGeom prst="ellipse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339328" y="393192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请求侧 position → index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8065008" y="4389120"/>
            <a:ext cx="118872" cy="118872"/>
          </a:xfrm>
          <a:prstGeom prst="ellipse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39328" y="429768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DocumentStore refresh 分段测量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8065008" y="4754880"/>
            <a:ext cx="118872" cy="118872"/>
          </a:xfrm>
          <a:prstGeom prst="ellipse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39328" y="466344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更大真实 workspace query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8065008" y="5120640"/>
            <a:ext cx="118872" cy="118872"/>
          </a:xfrm>
          <a:prstGeom prst="ellipse">
            <a:avLst/>
          </a:prstGeom>
          <a:solidFill>
            <a:srgbClr val="F68B1F"/>
          </a:solidFill>
          <a:ln w="12700">
            <a:solidFill>
              <a:srgbClr val="F68B1F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339328" y="5029200"/>
            <a:ext cx="2816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527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allocator peak 与 RSS 双轨</a:t>
            </a:r>
            <a:endParaRPr lang="en-US" sz="1040" dirty="0"/>
          </a:p>
        </p:txBody>
      </p:sp>
      <p:sp>
        <p:nvSpPr>
          <p:cNvPr id="49" name="Text 47"/>
          <p:cNvSpPr txBox="1"/>
          <p:nvPr/>
        </p:nvSpPr>
        <p:spPr>
          <a:xfrm>
            <a:off x="8028432" y="54132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98C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交付原则：可编辑 · 可复现 · 可回滚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6928" y="6355080"/>
            <a:ext cx="11064240" cy="0"/>
          </a:xfrm>
          <a:prstGeom prst="line">
            <a:avLst/>
          </a:prstGeom>
          <a:noFill/>
          <a:ln w="6985">
            <a:solidFill>
              <a:srgbClr val="D4CEC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66928" y="640080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2959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来源：build.zig；src/tools/benchmark_*.zig；src/tools/*.md；AGENTS.md workflow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ZLS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ZLS 性能与内存优化工程复盘</dc:title>
  <dc:subject>ZLS 性能与内存优化工程复盘</dc:subject>
  <dc:creator>TraeCode</dc:creator>
  <cp:lastModifiedBy>TraeCode</cp:lastModifiedBy>
  <cp:revision>1</cp:revision>
  <dcterms:created xsi:type="dcterms:W3CDTF">2026-09-17T17:53:57Z</dcterms:created>
  <dcterms:modified xsi:type="dcterms:W3CDTF">2026-09-17T17:53:57Z</dcterms:modified>
</cp:coreProperties>
</file>